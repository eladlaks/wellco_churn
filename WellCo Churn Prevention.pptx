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4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00438" y="2562225"/>
            <a:ext cx="899112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WellCo Churn Prevention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14512" y="3762375"/>
            <a:ext cx="8562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AI-Driven Outreach Optimization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4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5050"/>
            <a:ext cx="52863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3924300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More Effective Outreach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334125" y="2305050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AI Solution Finds the Right Members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34125" y="3409950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Challenge: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treatments are not effective the same on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different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members.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34125" y="4457700"/>
            <a:ext cx="52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Solution: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Our AI model focuses on the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top </a:t>
            </a:r>
            <a:r>
              <a:rPr b="1"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N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high-impact individuals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to capture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most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of the potential churn reduction,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minimizing churn and 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resource.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50D890"/>
                </a:solidFill>
                <a:latin typeface="Poppins"/>
                <a:ea typeface="Poppins"/>
                <a:cs typeface="Poppins"/>
                <a:sym typeface="Poppins"/>
              </a:rPr>
              <a:t>The Challenge &amp; Our AI Solution</a:t>
            </a:r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0788" y="2593663"/>
            <a:ext cx="124777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4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1750"/>
            <a:ext cx="528637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71750"/>
            <a:ext cx="52863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62025" y="29622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0D890"/>
                </a:solidFill>
                <a:latin typeface="Poppins"/>
                <a:ea typeface="Poppins"/>
                <a:cs typeface="Poppins"/>
                <a:sym typeface="Poppins"/>
              </a:rPr>
              <a:t>Target These ✅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59092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Moderate app users with a recent drop-off.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4019550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High claims frequency with low web engagement.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444817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Chronic condition members with inconsistent app use.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724650" y="29622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Poppins"/>
                <a:ea typeface="Poppins"/>
                <a:cs typeface="Poppins"/>
                <a:sym typeface="Poppins"/>
              </a:rPr>
              <a:t>Avoid These ⚠️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24650" y="359092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Very high engagers (already retained, low impact).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24650" y="4019550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Zero engagement members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churn anyway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24650" y="444817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Segments where outreach may increase churn risk.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50D890"/>
                </a:solidFill>
                <a:latin typeface="Poppins"/>
                <a:ea typeface="Poppins"/>
                <a:cs typeface="Poppins"/>
                <a:sym typeface="Poppins"/>
              </a:rPr>
              <a:t>Who Should We Target? The "At-Risk but Salvageable"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4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4575"/>
            <a:ext cx="5286375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14575"/>
            <a:ext cx="5286375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62025" y="27051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0D890"/>
                </a:solidFill>
                <a:latin typeface="Poppins"/>
                <a:ea typeface="Poppins"/>
                <a:cs typeface="Poppins"/>
                <a:sym typeface="Poppins"/>
              </a:rPr>
              <a:t>Proposed Implementation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3333750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Target: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Top 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ranked members from the provided list.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62025" y="376237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Expected Impact: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Prevent ~200-250 additional churns vs. random outreach.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4448175"/>
            <a:ext cx="450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24650" y="27051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0D890"/>
                </a:solidFill>
                <a:latin typeface="Poppins"/>
                <a:ea typeface="Poppins"/>
                <a:cs typeface="Poppins"/>
                <a:sym typeface="Poppins"/>
              </a:rPr>
              <a:t>Immediate Actions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3333750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Deploy: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Send the ranked list to the outreach team.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24650" y="376237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Integrate: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Flag high-priority members in the CRM.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24650" y="419100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Tailor: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Personalize messaging (e.g., "We notice you haven't logged in...").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50D890"/>
                </a:solidFill>
                <a:latin typeface="Poppins"/>
                <a:ea typeface="Poppins"/>
                <a:cs typeface="Poppins"/>
                <a:sym typeface="Poppins"/>
              </a:rPr>
              <a:t>Recommended Strategy &amp; Next Steps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1988" y="4497450"/>
            <a:ext cx="4505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insert to the model </a:t>
            </a:r>
            <a:r>
              <a:rPr b="1"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business</a:t>
            </a:r>
            <a:r>
              <a:rPr b="1"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oriented features (high profitable members, etc..)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4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